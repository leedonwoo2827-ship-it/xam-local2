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시험문제-빈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E2637"/>
                </a:solidFill>
                <a:latin typeface="Pretendard"/>
              </a:rPr>
              <a:t>판 규격 — 이 표의 숫자를 고치면 산출물이 그대로 바뀝니다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609600"/>
            <a:ext cx="11430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688"/>
                </a:solidFill>
                <a:latin typeface="Pretendard"/>
              </a:rPr>
              <a:t>· 단위는 pt(글자)와 cm(여백)입니다.   · 이름은 그대로 두세요 — 이름으로 찾습니다.   · 줄을 지우면 그 항목은 기본값을 씁니다.   · 이 슬라이드는 산출물에 들어가지 않습니다.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1016000"/>
          <a:ext cx="9525000" cy="533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270000"/>
                <a:gridCol w="5969000"/>
              </a:tblGrid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요소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크기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무엇인가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2F4F8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발문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5CE6"/>
                          </a:solidFill>
                          <a:latin typeface="Pretendard"/>
                        </a:rPr>
                        <a:t>16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>문제 면 제목 — 가장 크다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보기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5CE6"/>
                          </a:solidFill>
                          <a:latin typeface="Pretendard"/>
                        </a:rPr>
                        <a:t>12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>보기 4개를 한 줄로 놓을 때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보기(1단)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5CE6"/>
                          </a:solidFill>
                          <a:latin typeface="Pretendard"/>
                        </a:rPr>
                        <a:t>12.5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>보기가 3·5개라 세로로 쌓을 때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지문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5CE6"/>
                          </a:solidFill>
                          <a:latin typeface="Pretendard"/>
                        </a:rPr>
                        <a:t>11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>발문 아래 제시문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표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5CE6"/>
                          </a:solidFill>
                          <a:latin typeface="Pretendard"/>
                        </a:rPr>
                        <a:t>10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>표 안 글자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해설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5CE6"/>
                          </a:solidFill>
                          <a:latin typeface="Pretendard"/>
                        </a:rPr>
                        <a:t>10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>해설 문단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코드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5CE6"/>
                          </a:solidFill>
                          <a:latin typeface="Pretendard"/>
                        </a:rPr>
                        <a:t>10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>SQL·소스 코드블록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문번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5CE6"/>
                          </a:solidFill>
                          <a:latin typeface="Pretendard"/>
                        </a:rPr>
                        <a:t>12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>1번 알약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난도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5CE6"/>
                          </a:solidFill>
                          <a:latin typeface="Pretendard"/>
                        </a:rPr>
                        <a:t>10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>하·중·상 알약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정답배지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5CE6"/>
                          </a:solidFill>
                          <a:latin typeface="Pretendard"/>
                        </a:rPr>
                        <a:t>12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>정답 ③ 알약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도식 안 글자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5CE6"/>
                          </a:solidFill>
                          <a:latin typeface="Pretendard"/>
                        </a:rPr>
                        <a:t>12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>★ 도식을 얼마나 키울지 정한다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이론 소제목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5CE6"/>
                          </a:solidFill>
                          <a:latin typeface="Pretendard"/>
                        </a:rPr>
                        <a:t>17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>요약노트 h3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이론 대단원칩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5CE6"/>
                          </a:solidFill>
                          <a:latin typeface="Pretendard"/>
                        </a:rPr>
                        <a:t>11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>요약노트 h2 칩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이론 항목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5CE6"/>
                          </a:solidFill>
                          <a:latin typeface="Pretendard"/>
                        </a:rPr>
                        <a:t>10.5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>요약노트 항목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표지 위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5CE6"/>
                          </a:solidFill>
                          <a:latin typeface="Pretendard"/>
                        </a:rPr>
                        <a:t>12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>자격증명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표지 제목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5CE6"/>
                          </a:solidFill>
                          <a:latin typeface="Pretendard"/>
                        </a:rPr>
                        <a:t>28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>회차·과목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표지 아래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5CE6"/>
                          </a:solidFill>
                          <a:latin typeface="Pretendard"/>
                        </a:rPr>
                        <a:t>12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>범위·편수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여백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5CE6"/>
                          </a:solidFill>
                          <a:latin typeface="Pretendard"/>
                        </a:rPr>
                        <a:t>0.71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>슬라이드 바깥 여백 (cm)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6F8FC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7"/>
                          </a:solidFill>
                          <a:latin typeface="Pretendard"/>
                        </a:rPr>
                        <a:t>요소 간격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5CE6"/>
                          </a:solidFill>
                          <a:latin typeface="Pretendard"/>
                        </a:rPr>
                        <a:t>0.24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>블록 사이 간격 (cm)</a:t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6F8FC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6536B"/>
                          </a:solidFill>
                          <a:latin typeface="Pretendard"/>
                        </a:rPr>
                        <a:t/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6536B"/>
                          </a:solidFill>
                          <a:latin typeface="Pretendard"/>
                        </a:rPr>
                        <a:t/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6536B"/>
                          </a:solidFill>
                          <a:latin typeface="Pretendard"/>
                        </a:rPr>
                        <a:t/>
                      </a:r>
                    </a:p>
                  </a:txBody>
                  <a:tcPr anchor="ctr" marL="101600" marR="101600" marT="38100" marB="38100">
                    <a:lnL w="9525" cap="flat" cmpd="sng" algn="ctr">
                      <a:solidFill>
                        <a:srgbClr val="E3E8F0"/>
                      </a:solidFill>
                    </a:lnL>
                    <a:lnR w="9525" cap="flat" cmpd="sng" algn="ctr">
                      <a:solidFill>
                        <a:srgbClr val="E3E8F0"/>
                      </a:solidFill>
                    </a:lnR>
                    <a:lnT w="9525" cap="flat" cmpd="sng" algn="ctr">
                      <a:solidFill>
                        <a:srgbClr val="E3E8F0"/>
                      </a:solidFill>
                    </a:lnT>
                    <a:lnB w="9525" cap="flat" cmpd="sng" algn="ctr">
                      <a:solidFill>
                        <a:srgbClr val="E3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858135"/>
            <a:ext cx="11430000" cy="21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 altLang="en-US">
                <a:solidFill>
                  <a:srgbClr val="2C5CE6"/>
                </a:solidFill>
                <a:latin typeface="Pretendard"/>
                <a:ea typeface="Pretendard"/>
                <a:cs typeface="Pretendard"/>
              </a:rPr>
              <a:t>빅데이터분석기사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3191510"/>
            <a:ext cx="11430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ko-KR" altLang="en-US">
                <a:solidFill>
                  <a:srgbClr val="1E2637"/>
                </a:solidFill>
                <a:latin typeface="Pretendard"/>
                <a:ea typeface="Pretendard"/>
                <a:cs typeface="Pretendard"/>
              </a:rPr>
              <a:t>모의고사 01회 — 문제 풀이 (1/8)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3756025"/>
            <a:ext cx="11430000" cy="243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6B7688"/>
                </a:solidFill>
                <a:latin typeface="Pretendard"/>
                <a:ea typeface="Pretendard"/>
                <a:cs typeface="Pretendard"/>
              </a:rPr>
              <a:t>1번부터 10번까지 · 8편 중 1편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381000"/>
            <a:ext cx="425653" cy="264795"/>
          </a:xfrm>
          <a:prstGeom prst="roundRect">
            <a:avLst>
              <a:gd name="adj" fmla="val 100000"/>
            </a:avLst>
          </a:prstGeom>
          <a:solidFill>
            <a:srgbClr val="2C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3870" y="406718"/>
            <a:ext cx="219913" cy="213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eaLnBrk="1" hangingPunct="1" latinLnBrk="0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 altLang="en-US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5233" y="381000"/>
            <a:ext cx="278961" cy="246380"/>
          </a:xfrm>
          <a:prstGeom prst="roundRect">
            <a:avLst>
              <a:gd name="adj" fmla="val 100000"/>
            </a:avLst>
          </a:prstGeom>
          <a:solidFill>
            <a:srgbClr val="FDF0E6"/>
          </a:solidFill>
          <a:ln w="9525">
            <a:solidFill>
              <a:srgbClr val="F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386" y="415290"/>
            <a:ext cx="124656" cy="177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eaLnBrk="1" hangingPunct="1" latinLnBrk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 altLang="en-US">
                <a:solidFill>
                  <a:srgbClr val="A75A12"/>
                </a:solidFill>
                <a:latin typeface="Pretendard"/>
                <a:ea typeface="Pretendard"/>
                <a:cs typeface="Pretendard"/>
              </a:rPr>
              <a:t>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62940"/>
            <a:ext cx="11430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 altLang="en-US">
                <a:solidFill>
                  <a:srgbClr val="1E2637"/>
                </a:solidFill>
                <a:latin typeface="Pretendard"/>
                <a:ea typeface="Pretendard"/>
                <a:cs typeface="Pretendard"/>
              </a:rPr>
              <a:t>다음 중 반정형 데이터(semi-structured data)로만 묶인 것은?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1000" y="1053465"/>
            <a:ext cx="11430000" cy="1112520"/>
          </a:xfrm>
          <a:prstGeom prst="roundRect">
            <a:avLst>
              <a:gd name="adj" fmla="val 15410"/>
            </a:avLst>
          </a:prstGeom>
          <a:solidFill>
            <a:srgbClr val="F6F8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1015" y="1156335"/>
            <a:ext cx="11189970" cy="906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46536B"/>
                </a:solidFill>
                <a:latin typeface="Pretendard"/>
                <a:ea typeface="Pretendard"/>
                <a:cs typeface="Pretendard"/>
              </a:rPr>
              <a:t>ㄱ. 관계형 데이터베이스에 적재된 주문 테이블</a:t>
            </a:r>
          </a:p>
          <a:p>
            <a:pPr algn="l" eaLnBrk="1" hangingPunct="1" latinLnBrk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46536B"/>
                </a:solidFill>
                <a:latin typeface="Pretendard"/>
                <a:ea typeface="Pretendard"/>
                <a:cs typeface="Pretendard"/>
              </a:rPr>
              <a:t>ㄴ. 웹 서버가 남기는 JSON 형식의 API 호출 로그</a:t>
            </a:r>
          </a:p>
          <a:p>
            <a:pPr algn="l" eaLnBrk="1" hangingPunct="1" latinLnBrk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46536B"/>
                </a:solidFill>
                <a:latin typeface="Pretendard"/>
                <a:ea typeface="Pretendard"/>
                <a:cs typeface="Pretendard"/>
              </a:rPr>
              <a:t>ㄷ. 매장에 설치된 CCTV 녹화 영상</a:t>
            </a:r>
          </a:p>
          <a:p>
            <a:pPr algn="l" eaLnBrk="1" hangingPunct="1" latinLnBrk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46536B"/>
                </a:solidFill>
                <a:latin typeface="Pretendard"/>
                <a:ea typeface="Pretendard"/>
                <a:cs typeface="Pretendard"/>
              </a:rPr>
              <a:t>ㄹ. 센서 측정값을 태그 구조로 표현한 XML 파일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2251710"/>
            <a:ext cx="2793206" cy="552768"/>
          </a:xfrm>
          <a:prstGeom prst="roundRect">
            <a:avLst>
              <a:gd name="adj" fmla="val 31016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3870" y="2303145"/>
            <a:ext cx="2574766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 altLang="en-US">
                <a:solidFill>
                  <a:srgbClr val="6B768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870" y="2534602"/>
            <a:ext cx="2574766" cy="218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46536B"/>
                </a:solidFill>
                <a:latin typeface="Pretendard"/>
                <a:ea typeface="Pretendard"/>
                <a:cs typeface="Pretendard"/>
              </a:rPr>
              <a:t>ㄱ, 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59931" y="2251710"/>
            <a:ext cx="2793206" cy="552768"/>
          </a:xfrm>
          <a:prstGeom prst="roundRect">
            <a:avLst>
              <a:gd name="adj" fmla="val 31016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2801" y="2303145"/>
            <a:ext cx="2574766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 altLang="en-US">
                <a:solidFill>
                  <a:srgbClr val="6B768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2801" y="2534602"/>
            <a:ext cx="2574766" cy="218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46536B"/>
                </a:solidFill>
                <a:latin typeface="Pretendard"/>
                <a:ea typeface="Pretendard"/>
                <a:cs typeface="Pretendard"/>
              </a:rPr>
              <a:t>ㄴ, 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8862" y="2251710"/>
            <a:ext cx="2793206" cy="552768"/>
          </a:xfrm>
          <a:prstGeom prst="roundRect">
            <a:avLst>
              <a:gd name="adj" fmla="val 31016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1732" y="2303145"/>
            <a:ext cx="2574766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 altLang="en-US">
                <a:solidFill>
                  <a:srgbClr val="6B768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1732" y="2534602"/>
            <a:ext cx="2574766" cy="218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46536B"/>
                </a:solidFill>
                <a:latin typeface="Pretendard"/>
                <a:ea typeface="Pretendard"/>
                <a:cs typeface="Pretendard"/>
              </a:rPr>
              <a:t>ㄱ, 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7794" y="2251710"/>
            <a:ext cx="2793206" cy="552768"/>
          </a:xfrm>
          <a:prstGeom prst="roundRect">
            <a:avLst>
              <a:gd name="adj" fmla="val 31016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0664" y="2303145"/>
            <a:ext cx="2574766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 altLang="en-US">
                <a:solidFill>
                  <a:srgbClr val="6B768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0664" y="2534602"/>
            <a:ext cx="2574766" cy="218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46536B"/>
                </a:solidFill>
                <a:latin typeface="Pretendard"/>
                <a:ea typeface="Pretendard"/>
                <a:cs typeface="Pretendard"/>
              </a:rPr>
              <a:t>ㄴ, ㄷ, 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381000"/>
            <a:ext cx="696303" cy="299085"/>
          </a:xfrm>
          <a:prstGeom prst="roundRect">
            <a:avLst>
              <a:gd name="adj" fmla="val 100000"/>
            </a:avLst>
          </a:prstGeom>
          <a:solidFill>
            <a:srgbClr val="E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1015" y="423862"/>
            <a:ext cx="456273" cy="213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eaLnBrk="1" hangingPunct="1" latinLnBrk="0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 altLang="en-US">
                <a:solidFill>
                  <a:srgbClr val="0F7355"/>
                </a:solidFill>
                <a:latin typeface="Pretendard"/>
                <a:ea typeface="Pretendard"/>
                <a:cs typeface="Pretendard"/>
              </a:rPr>
              <a:t>정답 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00" y="765810"/>
            <a:ext cx="2793206" cy="552768"/>
          </a:xfrm>
          <a:prstGeom prst="roundRect">
            <a:avLst>
              <a:gd name="adj" fmla="val 31016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3870" y="817245"/>
            <a:ext cx="2574766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 altLang="en-US">
                <a:solidFill>
                  <a:srgbClr val="6B768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3870" y="1048702"/>
            <a:ext cx="2574766" cy="218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46536B"/>
                </a:solidFill>
                <a:latin typeface="Pretendard"/>
                <a:ea typeface="Pretendard"/>
                <a:cs typeface="Pretendard"/>
              </a:rPr>
              <a:t>ㄱ, 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59931" y="765810"/>
            <a:ext cx="2793206" cy="552768"/>
          </a:xfrm>
          <a:prstGeom prst="roundRect">
            <a:avLst>
              <a:gd name="adj" fmla="val 31016"/>
            </a:avLst>
          </a:prstGeom>
          <a:solidFill>
            <a:srgbClr val="E3F1EC"/>
          </a:solidFill>
          <a:ln w="9525">
            <a:solidFill>
              <a:srgbClr val="0F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2801" y="817245"/>
            <a:ext cx="2574766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 altLang="en-US">
                <a:solidFill>
                  <a:srgbClr val="0F7355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2801" y="1048702"/>
            <a:ext cx="2574766" cy="218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46536B"/>
                </a:solidFill>
                <a:latin typeface="Pretendard"/>
                <a:ea typeface="Pretendard"/>
                <a:cs typeface="Pretendard"/>
              </a:rPr>
              <a:t>ㄴ, 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8862" y="765810"/>
            <a:ext cx="2793206" cy="552768"/>
          </a:xfrm>
          <a:prstGeom prst="roundRect">
            <a:avLst>
              <a:gd name="adj" fmla="val 31016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1732" y="817245"/>
            <a:ext cx="2574766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 altLang="en-US">
                <a:solidFill>
                  <a:srgbClr val="6B768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1732" y="1048702"/>
            <a:ext cx="2574766" cy="218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46536B"/>
                </a:solidFill>
                <a:latin typeface="Pretendard"/>
                <a:ea typeface="Pretendard"/>
                <a:cs typeface="Pretendard"/>
              </a:rPr>
              <a:t>ㄱ, 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7794" y="765810"/>
            <a:ext cx="2793206" cy="552768"/>
          </a:xfrm>
          <a:prstGeom prst="roundRect">
            <a:avLst>
              <a:gd name="adj" fmla="val 31016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0664" y="817245"/>
            <a:ext cx="2574766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 altLang="en-US">
                <a:solidFill>
                  <a:srgbClr val="6B768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0664" y="1048702"/>
            <a:ext cx="2574766" cy="218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46536B"/>
                </a:solidFill>
                <a:latin typeface="Pretendard"/>
                <a:ea typeface="Pretendard"/>
                <a:cs typeface="Pretendard"/>
              </a:rPr>
              <a:t>ㄴ, ㄷ, 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1404302"/>
            <a:ext cx="1143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46536B"/>
                </a:solidFill>
                <a:latin typeface="Pretendard"/>
                <a:ea typeface="Pretendard"/>
                <a:cs typeface="Pretendard"/>
              </a:rPr>
              <a:t>반정형 데이터는 값과 함께 스키마 정보(메타데이터·태그)를 자기 자신 안에 담고 있으나 고정된 행·열 구조는 아니다.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1705927"/>
            <a:ext cx="1143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46536B"/>
                </a:solidFill>
                <a:latin typeface="Pretendard"/>
                <a:ea typeface="Pretendard"/>
                <a:cs typeface="Pretendard"/>
              </a:rPr>
              <a:t>ㄱ은 스키마가 데이터 밖에 정의된 정형, ㄷ은 구조 자체가 없는 비정형이다.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381000"/>
            <a:ext cx="1409183" cy="247015"/>
          </a:xfrm>
          <a:prstGeom prst="roundRect">
            <a:avLst>
              <a:gd name="adj" fmla="val 100000"/>
            </a:avLst>
          </a:prstGeom>
          <a:solidFill>
            <a:srgbClr val="E9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3870" y="406718"/>
            <a:ext cx="1203443" cy="195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eaLnBrk="1" hangingPunct="1" latinLnBrk="0">
              <a:lnSpc>
                <a:spcPts val="1539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 altLang="en-US">
                <a:solidFill>
                  <a:srgbClr val="1F4ED8"/>
                </a:solidFill>
                <a:latin typeface="Pretendard"/>
                <a:ea typeface="Pretendard"/>
                <a:cs typeface="Pretendard"/>
              </a:rPr>
              <a:t>1. 정규화와 함수 종속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679450"/>
            <a:ext cx="11430000" cy="2914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ko-KR" altLang="en-US">
                <a:solidFill>
                  <a:srgbClr val="1E2637"/>
                </a:solidFill>
                <a:latin typeface="Pretendard"/>
                <a:ea typeface="Pretendard"/>
                <a:cs typeface="Pretendard"/>
              </a:rPr>
              <a:t>1.1 정규화의 목적과 성능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1056640"/>
            <a:ext cx="11430000" cy="441960"/>
          </a:xfrm>
          <a:prstGeom prst="roundRect">
            <a:avLst>
              <a:gd name="adj" fmla="val 38793"/>
            </a:avLst>
          </a:prstGeom>
          <a:solidFill>
            <a:srgbClr val="F6F8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1015" y="1159510"/>
            <a:ext cx="11189970" cy="2362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46536B"/>
                </a:solidFill>
                <a:latin typeface="Pretendard"/>
                <a:ea typeface="Pretendard"/>
                <a:cs typeface="Pretendard"/>
              </a:rPr>
              <a:t>정규화는 하나의 사실이 여러 곳에 저장되지 않도록 릴레이션을 나누는 작업이다.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1584325"/>
            <a:ext cx="137160" cy="226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eaLnBrk="1" hangingPunct="1" latinLnBrk="0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 altLang="en-US">
                <a:solidFill>
                  <a:srgbClr val="1F4ED8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60" y="1584325"/>
            <a:ext cx="11292840" cy="226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 altLang="en-US">
                <a:solidFill>
                  <a:srgbClr val="46536B"/>
                </a:solidFill>
                <a:latin typeface="Pretendard"/>
                <a:ea typeface="Pretendard"/>
                <a:cs typeface="Pretendard"/>
              </a:rPr>
              <a:t>목적은 중복 최소화와 일관성 확보다. 성능은 그 결과로 따라온다.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871027"/>
            <a:ext cx="137160" cy="226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eaLnBrk="1" hangingPunct="1" latinLnBrk="0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 altLang="en-US">
                <a:solidFill>
                  <a:srgbClr val="1F4ED8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160" y="1871027"/>
            <a:ext cx="11292840" cy="226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 altLang="en-US">
                <a:solidFill>
                  <a:srgbClr val="46536B"/>
                </a:solidFill>
                <a:latin typeface="Pretendard"/>
                <a:ea typeface="Pretendard"/>
                <a:cs typeface="Pretendard"/>
              </a:rPr>
              <a:t>중복이 사라지므로 입력·수정·삭제 성능은 향상된다.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2157730"/>
            <a:ext cx="137160" cy="226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eaLnBrk="1" hangingPunct="1" latinLnBrk="0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 altLang="en-US">
                <a:solidFill>
                  <a:srgbClr val="1F4ED8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60" y="2157730"/>
            <a:ext cx="11292840" cy="226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1" hangingPunct="1" latinLnBrk="0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 altLang="en-US">
                <a:solidFill>
                  <a:srgbClr val="46536B"/>
                </a:solidFill>
                <a:latin typeface="Pretendard"/>
                <a:ea typeface="Pretendard"/>
                <a:cs typeface="Pretendard"/>
              </a:rPr>
              <a:t>조회는 조인이 늘어 느려질 수도, 행이 짧아져 빨라질 수도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etendard"/>
        <a:ea typeface="맑은 고딕"/>
        <a:cs typeface="맑은 고딕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맑은 고딕"/>
        <a:cs typeface="맑은 고딕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